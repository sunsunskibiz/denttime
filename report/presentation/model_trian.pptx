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entury Gothic Paneuropean Bold" charset="1" panose="020B0702020202020204"/>
      <p:regular r:id="rId11"/>
    </p:embeddedFont>
    <p:embeddedFont>
      <p:font typeface="Century Gothic Paneuropean" charset="1" panose="020B0502020202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6647" y="3437155"/>
            <a:ext cx="12514706" cy="282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0"/>
              </a:lnSpc>
            </a:pPr>
            <a:r>
              <a:rPr lang="en-US" b="true" sz="8078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MODEL T</a:t>
            </a:r>
            <a:r>
              <a:rPr lang="en-US" b="true" sz="8078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RAINING และ MODEL EVALUATION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27529" y="863238"/>
            <a:ext cx="8537178" cy="139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ข้อมูลที่ใช้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6881" y="3572788"/>
            <a:ext cx="12270668" cy="101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มีข้อมูลทั้งหมด 424,053 แถว หลังจากทำความสะอาดข้อมูล กรอง NaN และ duration ที่ผิดปกติออก เหลือ 331,347 แถว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18905" y="2805823"/>
            <a:ext cx="5472479" cy="614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7"/>
              </a:lnSpc>
            </a:pPr>
            <a:r>
              <a:rPr lang="en-US" b="true" sz="355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ข้อมูลมาจากคลินิกทันตกรรม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2703" y="5641983"/>
            <a:ext cx="10413864" cy="49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ข้อมูลครอบคลุมช่วงเดือนมกราคมถึงเมษายน 2025 (4 เดือน)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6881" y="4875018"/>
            <a:ext cx="1847123" cy="61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7"/>
              </a:lnSpc>
            </a:pPr>
            <a:r>
              <a:rPr lang="en-US" b="true" sz="355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ช่วงเวลา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92703" y="7341022"/>
            <a:ext cx="14376392" cy="10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ใช้วิธี Chronological Split คือเรียงตามเวลาจริง ไม่สุ่ม เพราะข้อมูลการแพทย์มีลำดับเวลาสำคัญ โดยแบ่งเป็น Train เดือน 1-3 จำนวน 167,067 แถว และ Test เดือน 4 จำนวน 85,292 แถว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6881" y="6574057"/>
            <a:ext cx="3200609" cy="61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7"/>
              </a:lnSpc>
            </a:pPr>
            <a:r>
              <a:rPr lang="en-US" b="true" sz="355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การแบ่งข้อมูล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627529" y="863238"/>
            <a:ext cx="8537178" cy="139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FEATURES ที่ใช้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0826" y="2620751"/>
            <a:ext cx="14212412" cy="61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5"/>
              </a:lnSpc>
            </a:pPr>
            <a:r>
              <a:rPr lang="en-US" sz="363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Features ที่ใช้ train โมเดลมีทั้งหมด 17 ตัว แบ่งเป็น 4 กลุ่มหลัก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3255" y="5348246"/>
            <a:ext cx="3074729" cy="430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174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treatment_class</a:t>
            </a:r>
          </a:p>
          <a:p>
            <a:pPr algn="l">
              <a:lnSpc>
                <a:spcPts val="2444"/>
              </a:lnSpc>
            </a:pPr>
            <a:r>
              <a:rPr lang="en-US" sz="174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2444"/>
              </a:lnSpc>
            </a:pPr>
            <a:r>
              <a:rPr lang="en-US" sz="174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composite_treatment_flag</a:t>
            </a:r>
          </a:p>
          <a:p>
            <a:pPr algn="l">
              <a:lnSpc>
                <a:spcPts val="2444"/>
              </a:lnSpc>
            </a:pPr>
          </a:p>
          <a:p>
            <a:pPr algn="l">
              <a:lnSpc>
                <a:spcPts val="2444"/>
              </a:lnSpc>
            </a:pPr>
            <a:r>
              <a:rPr lang="en-US" sz="174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has_tooth_no</a:t>
            </a:r>
          </a:p>
          <a:p>
            <a:pPr algn="l">
              <a:lnSpc>
                <a:spcPts val="2444"/>
              </a:lnSpc>
            </a:pPr>
          </a:p>
          <a:p>
            <a:pPr algn="l">
              <a:lnSpc>
                <a:spcPts val="2444"/>
              </a:lnSpc>
            </a:pPr>
            <a:r>
              <a:rPr lang="en-US" sz="174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tooth_count</a:t>
            </a:r>
          </a:p>
          <a:p>
            <a:pPr algn="l">
              <a:lnSpc>
                <a:spcPts val="2444"/>
              </a:lnSpc>
            </a:pPr>
          </a:p>
          <a:p>
            <a:pPr algn="l">
              <a:lnSpc>
                <a:spcPts val="2444"/>
              </a:lnSpc>
            </a:pPr>
            <a:r>
              <a:rPr lang="en-US" sz="174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is_area_treatment</a:t>
            </a:r>
          </a:p>
          <a:p>
            <a:pPr algn="l">
              <a:lnSpc>
                <a:spcPts val="2444"/>
              </a:lnSpc>
            </a:pPr>
          </a:p>
          <a:p>
            <a:pPr algn="l">
              <a:lnSpc>
                <a:spcPts val="2444"/>
              </a:lnSpc>
            </a:pPr>
            <a:r>
              <a:rPr lang="en-US" sz="174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surface_count</a:t>
            </a:r>
          </a:p>
          <a:p>
            <a:pPr algn="l">
              <a:lnSpc>
                <a:spcPts val="2444"/>
              </a:lnSpc>
            </a:pPr>
          </a:p>
          <a:p>
            <a:pPr algn="l">
              <a:lnSpc>
                <a:spcPts val="2444"/>
              </a:lnSpc>
            </a:pPr>
          </a:p>
          <a:p>
            <a:pPr algn="l">
              <a:lnSpc>
                <a:spcPts val="244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08214" y="4023007"/>
            <a:ext cx="924450" cy="61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7"/>
              </a:lnSpc>
            </a:pPr>
            <a:r>
              <a:rPr lang="en-US" b="true" sz="355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เวลา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023007"/>
            <a:ext cx="1809716" cy="61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7"/>
              </a:lnSpc>
            </a:pPr>
            <a:r>
              <a:rPr lang="en-US" b="true" sz="355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หัตถการ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96118" y="4023007"/>
            <a:ext cx="3527212" cy="61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7"/>
              </a:lnSpc>
            </a:pPr>
            <a:r>
              <a:rPr lang="en-US" b="true" sz="355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ราคาและหมายเหตุ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85380" y="4111360"/>
            <a:ext cx="4078061" cy="61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7"/>
              </a:lnSpc>
            </a:pPr>
            <a:r>
              <a:rPr lang="en-US" b="true" sz="355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ประวัติคลินิกและหมอ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12202" y="5338721"/>
            <a:ext cx="3482529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appt_day_of_week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appt_hour_bucket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is_first_case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appointment_rank_in_day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467032" y="5550380"/>
            <a:ext cx="2080871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total_amount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has_notes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042580" y="5413748"/>
            <a:ext cx="3513078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clinic_median_duration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clinic_pct_long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doctor_median_duration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doctor_pct_long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AutoShape 21" id="21"/>
          <p:cNvSpPr/>
          <p:nvPr/>
        </p:nvSpPr>
        <p:spPr>
          <a:xfrm flipH="true">
            <a:off x="3913284" y="4457754"/>
            <a:ext cx="0" cy="369939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8289535" y="4486903"/>
            <a:ext cx="0" cy="369939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2975780" y="4486903"/>
            <a:ext cx="0" cy="369939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88343" y="4830614"/>
            <a:ext cx="17487476" cy="176841"/>
            <a:chOff x="0" y="0"/>
            <a:chExt cx="4605755" cy="465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05755" cy="46575"/>
            </a:xfrm>
            <a:custGeom>
              <a:avLst/>
              <a:gdLst/>
              <a:ahLst/>
              <a:cxnLst/>
              <a:rect r="r" b="b" t="t" l="l"/>
              <a:pathLst>
                <a:path h="46575" w="4605755">
                  <a:moveTo>
                    <a:pt x="22578" y="0"/>
                  </a:moveTo>
                  <a:lnTo>
                    <a:pt x="4583176" y="0"/>
                  </a:lnTo>
                  <a:cubicBezTo>
                    <a:pt x="4595646" y="0"/>
                    <a:pt x="4605755" y="10109"/>
                    <a:pt x="4605755" y="22578"/>
                  </a:cubicBezTo>
                  <a:lnTo>
                    <a:pt x="4605755" y="23997"/>
                  </a:lnTo>
                  <a:cubicBezTo>
                    <a:pt x="4605755" y="36467"/>
                    <a:pt x="4595646" y="46575"/>
                    <a:pt x="4583176" y="46575"/>
                  </a:cubicBezTo>
                  <a:lnTo>
                    <a:pt x="22578" y="46575"/>
                  </a:lnTo>
                  <a:cubicBezTo>
                    <a:pt x="10109" y="46575"/>
                    <a:pt x="0" y="36467"/>
                    <a:pt x="0" y="23997"/>
                  </a:cubicBezTo>
                  <a:lnTo>
                    <a:pt x="0" y="22578"/>
                  </a:lnTo>
                  <a:cubicBezTo>
                    <a:pt x="0" y="10109"/>
                    <a:pt x="10109" y="0"/>
                    <a:pt x="2257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05755" cy="8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00262" y="3817591"/>
            <a:ext cx="17487476" cy="176841"/>
            <a:chOff x="0" y="0"/>
            <a:chExt cx="4605755" cy="465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05755" cy="46575"/>
            </a:xfrm>
            <a:custGeom>
              <a:avLst/>
              <a:gdLst/>
              <a:ahLst/>
              <a:cxnLst/>
              <a:rect r="r" b="b" t="t" l="l"/>
              <a:pathLst>
                <a:path h="46575" w="4605755">
                  <a:moveTo>
                    <a:pt x="22578" y="0"/>
                  </a:moveTo>
                  <a:lnTo>
                    <a:pt x="4583176" y="0"/>
                  </a:lnTo>
                  <a:cubicBezTo>
                    <a:pt x="4595646" y="0"/>
                    <a:pt x="4605755" y="10109"/>
                    <a:pt x="4605755" y="22578"/>
                  </a:cubicBezTo>
                  <a:lnTo>
                    <a:pt x="4605755" y="23997"/>
                  </a:lnTo>
                  <a:cubicBezTo>
                    <a:pt x="4605755" y="36467"/>
                    <a:pt x="4595646" y="46575"/>
                    <a:pt x="4583176" y="46575"/>
                  </a:cubicBezTo>
                  <a:lnTo>
                    <a:pt x="22578" y="46575"/>
                  </a:lnTo>
                  <a:cubicBezTo>
                    <a:pt x="10109" y="46575"/>
                    <a:pt x="0" y="36467"/>
                    <a:pt x="0" y="23997"/>
                  </a:cubicBezTo>
                  <a:lnTo>
                    <a:pt x="0" y="22578"/>
                  </a:lnTo>
                  <a:cubicBezTo>
                    <a:pt x="0" y="10109"/>
                    <a:pt x="10109" y="0"/>
                    <a:pt x="22578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05755" cy="8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3169" y="3663182"/>
            <a:ext cx="7479935" cy="5787600"/>
          </a:xfrm>
          <a:custGeom>
            <a:avLst/>
            <a:gdLst/>
            <a:ahLst/>
            <a:cxnLst/>
            <a:rect r="r" b="b" t="t" l="l"/>
            <a:pathLst>
              <a:path h="5787600" w="7479935">
                <a:moveTo>
                  <a:pt x="0" y="0"/>
                </a:moveTo>
                <a:lnTo>
                  <a:pt x="7479935" y="0"/>
                </a:lnTo>
                <a:lnTo>
                  <a:pt x="7479935" y="5787600"/>
                </a:lnTo>
                <a:lnTo>
                  <a:pt x="0" y="578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3169" y="2441937"/>
            <a:ext cx="12976603" cy="103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3053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โมเดลที่เลือกใช้คือ XGBoost</a:t>
            </a:r>
            <a:r>
              <a:rPr lang="en-US" sz="305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4274"/>
              </a:lnSpc>
            </a:pPr>
            <a:r>
              <a:rPr lang="en-US" sz="3053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ซึ่งเหมาะกับข้อมูลเชิงโครงสร้างและจัดการ class imbalance ได้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27529" y="863238"/>
            <a:ext cx="8537178" cy="139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โมเดลและผลลัพธ์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163104" y="4125169"/>
            <a:ext cx="9391882" cy="5457481"/>
            <a:chOff x="0" y="0"/>
            <a:chExt cx="12522509" cy="7276642"/>
          </a:xfrm>
        </p:grpSpPr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-1252251" y="-1252251"/>
              <a:ext cx="15027011" cy="9781144"/>
            </a:xfrm>
            <a:prstGeom prst="rect">
              <a:avLst/>
            </a:prstGeom>
          </p:spPr>
        </p:pic>
        <p:sp>
          <p:nvSpPr>
            <p:cNvPr name="TextBox 16" id="16"/>
            <p:cNvSpPr txBox="true"/>
            <p:nvPr/>
          </p:nvSpPr>
          <p:spPr>
            <a:xfrm rot="0">
              <a:off x="1483426" y="3471290"/>
              <a:ext cx="1082585" cy="36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0.81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408969" y="3980220"/>
              <a:ext cx="1082585" cy="36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0.74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296642" y="5531935"/>
              <a:ext cx="1231069" cy="36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0.19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279731" y="4978406"/>
              <a:ext cx="1231069" cy="36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0.39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185600" y="5531935"/>
              <a:ext cx="1231069" cy="36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0.17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1170168" y="5531935"/>
              <a:ext cx="1231069" cy="361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0.16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71343" y="-8372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743" y="-8372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62527" y="876300"/>
            <a:ext cx="12267746" cy="139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ข้อจำกัดและแนวทางพัฒนา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278" y="2634931"/>
            <a:ext cx="738889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ข้อจำกัด (Limitations)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64291"/>
            <a:ext cx="15511462" cy="117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1. ข้อมูลมีเพียง 4 เดือน → อาจยังไม่ครอบคลุมพฤติกรรมทั้งหมด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 Class 45, 90, 105 มีจำนวนน้อย → ทำให้โมเดลเรียนรู้ได้ไม่ดี และส่งผลให้ Macro F1 ต่ำ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278" y="6094342"/>
            <a:ext cx="1274853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แนวทางพัฒนา (Future Improvements)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7323702"/>
            <a:ext cx="15518011" cy="237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1. แก้ปัญหา class imbalance ด้วยเทคนิค เช่น class weighting หรือ oversampling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 เพิ่ม feature ที่สะท้อนความซับซ้อนของเคส เช่น severity หรือประเภทหัตถการเชิงลึก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 ปรับ hyperparameters ของโมเดล เพื่อเพิ่ม performance โดยรวม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DAHHq2oK1LI</dc:identifier>
  <dcterms:modified xsi:type="dcterms:W3CDTF">2011-08-01T06:04:30Z</dcterms:modified>
  <cp:revision>1</cp:revision>
  <dc:title>modeltrian</dc:title>
</cp:coreProperties>
</file>
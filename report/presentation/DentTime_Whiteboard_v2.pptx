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10"/>
  </p:normalViewPr>
  <p:slideViewPr>
    <p:cSldViewPr snapToGrid="0" snapToObjects="1">
      <p:cViewPr>
        <p:scale>
          <a:sx n="121" d="100"/>
          <a:sy n="121" d="100"/>
        </p:scale>
        <p:origin x="3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3105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294904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1440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DentTime</a:t>
            </a:r>
            <a:endParaRPr lang="en-US" sz="6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331720"/>
            <a:ext cx="3200400" cy="12801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2606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Data Pipeline for dental ML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40080" y="3063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555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ระบบเตรียมข้อมูลสำหรับโมเดลทำนายเวลาหัตถการ</a:t>
            </a:r>
            <a:endParaRPr lang="en-US" sz="2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97680"/>
            <a:ext cx="3383280" cy="12801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2960" y="4434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  Anonymization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822960" y="4892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HMAC + k-anonymity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822960" y="5193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23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→ PDPA safe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297680"/>
            <a:ext cx="3383280" cy="12801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72000" y="4434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2.  Airflow Pipeline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4572000" y="4892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 tasks, monthly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4572000" y="5193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23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→ auto, retryable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4297680"/>
            <a:ext cx="3383280" cy="12801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321040" y="4434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3.  Handoff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8321040" y="4892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clean dataset + docs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8321040" y="5193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23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→ 252K rows ready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 Pipeline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98448"/>
            <a:ext cx="2194560" cy="10972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377440"/>
            <a:ext cx="2377440" cy="18288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7724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23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77724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INGEST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77724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pick up CSVs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680" y="3063240"/>
            <a:ext cx="365760" cy="45720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2377440"/>
            <a:ext cx="2377440" cy="18288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52044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23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2.</a:t>
            </a:r>
            <a:endParaRPr lang="en-US" sz="1800" dirty="0"/>
          </a:p>
        </p:txBody>
      </p:sp>
      <p:sp>
        <p:nvSpPr>
          <p:cNvPr id="13" name="Text 6"/>
          <p:cNvSpPr/>
          <p:nvPr/>
        </p:nvSpPr>
        <p:spPr>
          <a:xfrm>
            <a:off x="352044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VALIDATE</a:t>
            </a:r>
            <a:endParaRPr lang="en-US" sz="2200" dirty="0"/>
          </a:p>
        </p:txBody>
      </p:sp>
      <p:sp>
        <p:nvSpPr>
          <p:cNvPr id="14" name="Text 7"/>
          <p:cNvSpPr/>
          <p:nvPr/>
        </p:nvSpPr>
        <p:spPr>
          <a:xfrm>
            <a:off x="352044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check schema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3520440" y="3749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23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fail-fast !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0" y="3063240"/>
            <a:ext cx="365760" cy="457200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377440"/>
            <a:ext cx="2377440" cy="18288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26364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23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3.</a:t>
            </a:r>
            <a:endParaRPr lang="en-US" sz="1800" dirty="0"/>
          </a:p>
        </p:txBody>
      </p:sp>
      <p:sp>
        <p:nvSpPr>
          <p:cNvPr id="19" name="Text 10"/>
          <p:cNvSpPr/>
          <p:nvPr/>
        </p:nvSpPr>
        <p:spPr>
          <a:xfrm>
            <a:off x="626364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ANONYMIZE</a:t>
            </a:r>
            <a:endParaRPr lang="en-US" sz="2200" dirty="0"/>
          </a:p>
        </p:txBody>
      </p:sp>
      <p:sp>
        <p:nvSpPr>
          <p:cNvPr id="20" name="Text 11"/>
          <p:cNvSpPr/>
          <p:nvPr/>
        </p:nvSpPr>
        <p:spPr>
          <a:xfrm>
            <a:off x="626364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hash + drop PII</a:t>
            </a:r>
            <a:endParaRPr lang="en-US" sz="1400" dirty="0"/>
          </a:p>
        </p:txBody>
      </p:sp>
      <p:sp>
        <p:nvSpPr>
          <p:cNvPr id="21" name="Text 12"/>
          <p:cNvSpPr/>
          <p:nvPr/>
        </p:nvSpPr>
        <p:spPr>
          <a:xfrm>
            <a:off x="6263640" y="3749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23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k-anon k=5</a:t>
            </a:r>
            <a:endParaRPr lang="en-US" sz="12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3063240"/>
            <a:ext cx="365760" cy="457200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2377440"/>
            <a:ext cx="2377440" cy="182880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900684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23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4.</a:t>
            </a:r>
            <a:endParaRPr lang="en-US" sz="1800" dirty="0"/>
          </a:p>
        </p:txBody>
      </p:sp>
      <p:sp>
        <p:nvSpPr>
          <p:cNvPr id="25" name="Text 14"/>
          <p:cNvSpPr/>
          <p:nvPr/>
        </p:nvSpPr>
        <p:spPr>
          <a:xfrm>
            <a:off x="900684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PUBLISH</a:t>
            </a:r>
            <a:endParaRPr lang="en-US" sz="2200" dirty="0"/>
          </a:p>
        </p:txBody>
      </p:sp>
      <p:sp>
        <p:nvSpPr>
          <p:cNvPr id="26" name="Text 15"/>
          <p:cNvSpPr/>
          <p:nvPr/>
        </p:nvSpPr>
        <p:spPr>
          <a:xfrm>
            <a:off x="900684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send to next team</a:t>
            </a:r>
            <a:endParaRPr lang="en-US" sz="1400" dirty="0"/>
          </a:p>
        </p:txBody>
      </p:sp>
      <p:sp>
        <p:nvSpPr>
          <p:cNvPr id="27" name="Text 16"/>
          <p:cNvSpPr/>
          <p:nvPr/>
        </p:nvSpPr>
        <p:spPr>
          <a:xfrm>
            <a:off x="9006840" y="3749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23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manifest</a:t>
            </a:r>
            <a:endParaRPr lang="en-US" sz="12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297680"/>
            <a:ext cx="274320" cy="64008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4892040" y="4389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3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STOP!</a:t>
            </a:r>
            <a:endParaRPr lang="en-US" sz="2200" dirty="0"/>
          </a:p>
        </p:txBody>
      </p:sp>
      <p:sp>
        <p:nvSpPr>
          <p:cNvPr id="30" name="Text 18"/>
          <p:cNvSpPr/>
          <p:nvPr/>
        </p:nvSpPr>
        <p:spPr>
          <a:xfrm>
            <a:off x="4892040" y="4709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23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don't send bad data</a:t>
            </a:r>
            <a:endParaRPr lang="en-US" sz="1400" dirty="0"/>
          </a:p>
        </p:txBody>
      </p:sp>
      <p:sp>
        <p:nvSpPr>
          <p:cNvPr id="31" name="Text 19"/>
          <p:cNvSpPr/>
          <p:nvPr/>
        </p:nvSpPr>
        <p:spPr>
          <a:xfrm>
            <a:off x="640080" y="5852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on retry:  each task tries 2x before giving up.</a:t>
            </a:r>
            <a:endParaRPr lang="en-US" sz="1400" dirty="0"/>
          </a:p>
        </p:txBody>
      </p:sp>
      <p:sp>
        <p:nvSpPr>
          <p:cNvPr id="32" name="Text 20"/>
          <p:cNvSpPr/>
          <p:nvPr/>
        </p:nvSpPr>
        <p:spPr>
          <a:xfrm>
            <a:off x="640080" y="6172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idempotent — safe to re-run the same month.</a:t>
            </a:r>
            <a:endParaRPr lang="en-US" sz="1400" dirty="0"/>
          </a:p>
        </p:txBody>
      </p:sp>
      <p:sp>
        <p:nvSpPr>
          <p:cNvPr id="33" name="Text 21"/>
          <p:cNvSpPr/>
          <p:nvPr/>
        </p:nvSpPr>
        <p:spPr>
          <a:xfrm>
            <a:off x="640080" y="6492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logs:  row counts, duration, status — every run.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Where the data goes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98448"/>
            <a:ext cx="3657600" cy="1097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Start with 424K raw rows.  Keep 252K clean ones.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822960" y="2286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raw CSV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3017520" y="23225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 files from DentCloud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852160" y="23225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424,053 rows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651760"/>
            <a:ext cx="68580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818120" y="2670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100%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22960" y="3611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after dedupe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3017520" y="36484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appointment_id duplicated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852160" y="36484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261,407 rows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977640"/>
            <a:ext cx="4224528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84648" y="39959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61.6%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822960" y="4937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after k-anon k=5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3017520" y="49743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drop tiny QI groups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5852160" y="49743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252,359 rows</a:t>
            </a:r>
            <a:endParaRPr lang="en-US" sz="11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303520"/>
            <a:ext cx="408051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040630" y="5321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3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59.5%</a:t>
            </a:r>
            <a:endParaRPr lang="en-US" sz="22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0" y="2377440"/>
            <a:ext cx="2743200" cy="21945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86968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3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 big drop:</a:t>
            </a:r>
            <a:endParaRPr lang="en-US" sz="1800" dirty="0"/>
          </a:p>
        </p:txBody>
      </p:sp>
      <p:sp>
        <p:nvSpPr>
          <p:cNvPr id="23" name="Text 15"/>
          <p:cNvSpPr/>
          <p:nvPr/>
        </p:nvSpPr>
        <p:spPr>
          <a:xfrm>
            <a:off x="8869680" y="30175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dedupe removes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8869680" y="32918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~163K duplicate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8869680" y="3566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appointment rows.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8869680" y="39319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merging 3 source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8869680" y="41605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CSVs caused overlap.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82296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k-anon dropped only ~3.5% — most rows survive.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Why file-drop (not DB)?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98448"/>
            <a:ext cx="4937760" cy="10972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103120"/>
            <a:ext cx="2103120" cy="118872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40080" y="24643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(source)</a:t>
            </a:r>
            <a:endParaRPr lang="en-US" sz="20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8760" y="3383280"/>
            <a:ext cx="365760" cy="64008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92024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CSV export</a:t>
            </a:r>
            <a:endParaRPr lang="en-US" sz="120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114800"/>
            <a:ext cx="1554480" cy="100584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868680" y="4343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incoming/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868680" y="4709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*.csv</a:t>
            </a:r>
            <a:endParaRPr lang="en-US" sz="13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6040" y="4434840"/>
            <a:ext cx="640080" cy="365760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7560" y="3886200"/>
            <a:ext cx="2377440" cy="146304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333756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5F8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Airflow</a:t>
            </a:r>
            <a:endParaRPr lang="en-US" sz="2200" dirty="0"/>
          </a:p>
        </p:txBody>
      </p:sp>
      <p:sp>
        <p:nvSpPr>
          <p:cNvPr id="15" name="Text 6"/>
          <p:cNvSpPr/>
          <p:nvPr/>
        </p:nvSpPr>
        <p:spPr>
          <a:xfrm>
            <a:off x="3337560" y="4434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5F8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pipeline</a:t>
            </a:r>
            <a:endParaRPr lang="en-US" sz="2200" dirty="0"/>
          </a:p>
        </p:txBody>
      </p:sp>
      <p:sp>
        <p:nvSpPr>
          <p:cNvPr id="16" name="Text 7"/>
          <p:cNvSpPr/>
          <p:nvPr/>
        </p:nvSpPr>
        <p:spPr>
          <a:xfrm>
            <a:off x="3337560" y="4937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(monthly)</a:t>
            </a:r>
            <a:endParaRPr lang="en-US" sz="14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6440" y="4434840"/>
            <a:ext cx="640080" cy="365760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4069080"/>
            <a:ext cx="1828800" cy="109728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653796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published/</a:t>
            </a:r>
            <a:endParaRPr lang="en-US" sz="1600" dirty="0"/>
          </a:p>
        </p:txBody>
      </p:sp>
      <p:sp>
        <p:nvSpPr>
          <p:cNvPr id="20" name="Text 9"/>
          <p:cNvSpPr/>
          <p:nvPr/>
        </p:nvSpPr>
        <p:spPr>
          <a:xfrm>
            <a:off x="653796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23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clean</a:t>
            </a:r>
            <a:endParaRPr lang="en-US" sz="1300" dirty="0"/>
          </a:p>
        </p:txBody>
      </p:sp>
      <p:sp>
        <p:nvSpPr>
          <p:cNvPr id="21" name="Text 10"/>
          <p:cNvSpPr/>
          <p:nvPr/>
        </p:nvSpPr>
        <p:spPr>
          <a:xfrm>
            <a:off x="653796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23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dataset</a:t>
            </a:r>
            <a:endParaRPr lang="en-US" sz="13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0" y="2377440"/>
            <a:ext cx="2286000" cy="22860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914400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23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WHY?</a:t>
            </a:r>
            <a:endParaRPr lang="en-US" sz="2400" dirty="0"/>
          </a:p>
        </p:txBody>
      </p:sp>
      <p:sp>
        <p:nvSpPr>
          <p:cNvPr id="24" name="Text 12"/>
          <p:cNvSpPr/>
          <p:nvPr/>
        </p:nvSpPr>
        <p:spPr>
          <a:xfrm>
            <a:off x="9144000" y="3200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safer.</a:t>
            </a:r>
            <a:endParaRPr lang="en-US" sz="1600" dirty="0"/>
          </a:p>
        </p:txBody>
      </p:sp>
      <p:sp>
        <p:nvSpPr>
          <p:cNvPr id="25" name="Text 13"/>
          <p:cNvSpPr/>
          <p:nvPr/>
        </p:nvSpPr>
        <p:spPr>
          <a:xfrm>
            <a:off x="9144000" y="3474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decoupled.</a:t>
            </a:r>
            <a:endParaRPr lang="en-US" sz="1600" dirty="0"/>
          </a:p>
        </p:txBody>
      </p:sp>
      <p:sp>
        <p:nvSpPr>
          <p:cNvPr id="26" name="Text 14"/>
          <p:cNvSpPr/>
          <p:nvPr/>
        </p:nvSpPr>
        <p:spPr>
          <a:xfrm>
            <a:off x="9144000" y="3749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backfill =</a:t>
            </a:r>
            <a:endParaRPr lang="en-US" sz="1600" dirty="0"/>
          </a:p>
        </p:txBody>
      </p:sp>
      <p:sp>
        <p:nvSpPr>
          <p:cNvPr id="27" name="Text 15"/>
          <p:cNvSpPr/>
          <p:nvPr/>
        </p:nvSpPr>
        <p:spPr>
          <a:xfrm>
            <a:off x="9144000" y="40233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drop a file.</a:t>
            </a:r>
            <a:endParaRPr lang="en-US" sz="1600" dirty="0"/>
          </a:p>
        </p:txBody>
      </p:sp>
      <p:sp>
        <p:nvSpPr>
          <p:cNvPr id="28" name="Text 16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no DB credentials in the pipeline = nothing to break in production.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What downstream gets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98448"/>
            <a:ext cx="4023360" cy="1097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 dataset · 252,359 rows · 21 columns in 5 groups</a:t>
            </a:r>
            <a:endParaRPr lang="en-US" sz="18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563879" y="2514600"/>
            <a:ext cx="2103120" cy="19202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 rot="-120000">
            <a:off x="746759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 IDs</a:t>
            </a:r>
            <a:endParaRPr lang="en-US" sz="1700" dirty="0"/>
          </a:p>
        </p:txBody>
      </p:sp>
      <p:sp>
        <p:nvSpPr>
          <p:cNvPr id="8" name="Text 3"/>
          <p:cNvSpPr/>
          <p:nvPr/>
        </p:nvSpPr>
        <p:spPr>
          <a:xfrm rot="-120000">
            <a:off x="746759" y="31089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dentist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appointment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has_dentist_id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0000">
            <a:off x="2804159" y="2514600"/>
            <a:ext cx="2103120" cy="19202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 rot="120000">
            <a:off x="2987039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2. Clinical</a:t>
            </a:r>
            <a:endParaRPr lang="en-US" sz="1700" dirty="0"/>
          </a:p>
        </p:txBody>
      </p:sp>
      <p:sp>
        <p:nvSpPr>
          <p:cNvPr id="11" name="Text 5"/>
          <p:cNvSpPr/>
          <p:nvPr/>
        </p:nvSpPr>
        <p:spPr>
          <a:xfrm rot="120000">
            <a:off x="2987039" y="31089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treatment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tooth_no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surfaces,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total_amount,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has_notes</a:t>
            </a:r>
            <a:endParaRPr lang="en-US" sz="11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60000">
            <a:off x="5044439" y="2514600"/>
            <a:ext cx="2103120" cy="19202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 rot="-60000">
            <a:off x="5227319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3. Time</a:t>
            </a:r>
            <a:endParaRPr lang="en-US" sz="1700" dirty="0"/>
          </a:p>
        </p:txBody>
      </p:sp>
      <p:sp>
        <p:nvSpPr>
          <p:cNvPr id="14" name="Text 7"/>
          <p:cNvSpPr/>
          <p:nvPr/>
        </p:nvSpPr>
        <p:spPr>
          <a:xfrm rot="-60000">
            <a:off x="5227319" y="31089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year_month,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day_of_week,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hour_bucket</a:t>
            </a:r>
            <a:endParaRPr lang="en-US" sz="11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0000">
            <a:off x="7284719" y="2514600"/>
            <a:ext cx="2103120" cy="192024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 rot="60000">
            <a:off x="7467599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4. Behavioral</a:t>
            </a:r>
            <a:endParaRPr lang="en-US" sz="1700" dirty="0"/>
          </a:p>
        </p:txBody>
      </p:sp>
      <p:sp>
        <p:nvSpPr>
          <p:cNvPr id="17" name="Text 9"/>
          <p:cNvSpPr/>
          <p:nvPr/>
        </p:nvSpPr>
        <p:spPr>
          <a:xfrm rot="60000">
            <a:off x="7467599" y="31089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duration,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delays,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offsets,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flags</a:t>
            </a:r>
            <a:endParaRPr lang="en-US" sz="11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120000">
            <a:off x="9524999" y="2514600"/>
            <a:ext cx="2103120" cy="192024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 rot="-120000">
            <a:off x="9707879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5. Appt. Order</a:t>
            </a:r>
            <a:endParaRPr lang="en-US" sz="1700" dirty="0"/>
          </a:p>
        </p:txBody>
      </p:sp>
      <p:sp>
        <p:nvSpPr>
          <p:cNvPr id="20" name="Text 11"/>
          <p:cNvSpPr/>
          <p:nvPr/>
        </p:nvSpPr>
        <p:spPr>
          <a:xfrm rot="-120000">
            <a:off x="9707879" y="31089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appointment_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rank_in_day,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is_first_case</a:t>
            </a:r>
            <a:endParaRPr lang="en-US" sz="1100" dirty="0"/>
          </a:p>
        </p:txBody>
      </p:sp>
      <p:sp>
        <p:nvSpPr>
          <p:cNvPr id="22" name="Text 13"/>
          <p:cNvSpPr/>
          <p:nvPr/>
        </p:nvSpPr>
        <p:spPr>
          <a:xfrm>
            <a:off x="640080" y="5120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→ target:</a:t>
            </a:r>
            <a:endParaRPr lang="en-US" sz="1800" dirty="0"/>
          </a:p>
        </p:txBody>
      </p:sp>
      <p:sp>
        <p:nvSpPr>
          <p:cNvPr id="23" name="Text 14"/>
          <p:cNvSpPr/>
          <p:nvPr/>
        </p:nvSpPr>
        <p:spPr>
          <a:xfrm>
            <a:off x="1920240" y="5120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3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scheduled_duration_min</a:t>
            </a:r>
            <a:endParaRPr lang="en-US" sz="1600" dirty="0"/>
          </a:p>
        </p:txBody>
      </p:sp>
      <p:sp>
        <p:nvSpPr>
          <p:cNvPr id="24" name="Text 15"/>
          <p:cNvSpPr/>
          <p:nvPr/>
        </p:nvSpPr>
        <p:spPr>
          <a:xfrm>
            <a:off x="640080" y="5532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→ split by:</a:t>
            </a:r>
            <a:endParaRPr lang="en-US" sz="1800" dirty="0"/>
          </a:p>
        </p:txBody>
      </p:sp>
      <p:sp>
        <p:nvSpPr>
          <p:cNvPr id="25" name="Text 16"/>
          <p:cNvSpPr/>
          <p:nvPr/>
        </p:nvSpPr>
        <p:spPr>
          <a:xfrm>
            <a:off x="2194560" y="5532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3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appt_year_month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5120640" y="5532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(time-based)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Things to know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98448"/>
            <a:ext cx="2377440" cy="1097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tradeoffs &amp; limits — before you use this dataset</a:t>
            </a:r>
            <a:endParaRPr lang="en-US" sz="16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377440"/>
            <a:ext cx="365760" cy="36576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377440"/>
            <a:ext cx="365760" cy="36576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463040" y="2331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IDs rotate every run</a:t>
            </a:r>
            <a:endParaRPr lang="en-US" sz="1800" dirty="0"/>
          </a:p>
        </p:txBody>
      </p:sp>
      <p:sp>
        <p:nvSpPr>
          <p:cNvPr id="9" name="Text 3"/>
          <p:cNvSpPr/>
          <p:nvPr/>
        </p:nvSpPr>
        <p:spPr>
          <a:xfrm>
            <a:off x="1463040" y="26700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can't join across dataset versions</a:t>
            </a:r>
            <a:endParaRPr lang="en-US" sz="14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246120"/>
            <a:ext cx="365760" cy="365760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246120"/>
            <a:ext cx="365760" cy="36576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463040" y="3200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notes are gone</a:t>
            </a:r>
            <a:endParaRPr lang="en-US" sz="1800" dirty="0"/>
          </a:p>
        </p:txBody>
      </p:sp>
      <p:sp>
        <p:nvSpPr>
          <p:cNvPr id="13" name="Text 5"/>
          <p:cNvSpPr/>
          <p:nvPr/>
        </p:nvSpPr>
        <p:spPr>
          <a:xfrm>
            <a:off x="1463040" y="35387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only has_notes flag (0/1) kept — PDPA</a:t>
            </a:r>
            <a:endParaRPr lang="en-US" sz="14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114800"/>
            <a:ext cx="365760" cy="365760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114800"/>
            <a:ext cx="365760" cy="36576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1463040" y="4069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hour is fuzzy</a:t>
            </a:r>
            <a:endParaRPr lang="en-US" sz="1800" dirty="0"/>
          </a:p>
        </p:txBody>
      </p:sp>
      <p:sp>
        <p:nvSpPr>
          <p:cNvPr id="17" name="Text 7"/>
          <p:cNvSpPr/>
          <p:nvPr/>
        </p:nvSpPr>
        <p:spPr>
          <a:xfrm>
            <a:off x="1463040" y="44074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4-hour bucket, not exact time (k-anon cost)</a:t>
            </a:r>
            <a:endParaRPr lang="en-US" sz="1400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983480"/>
            <a:ext cx="365760" cy="365760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983480"/>
            <a:ext cx="365760" cy="365760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1463040" y="49377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A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~50% rows missing dentist license</a:t>
            </a:r>
            <a:endParaRPr lang="en-US" sz="1800" dirty="0"/>
          </a:p>
        </p:txBody>
      </p:sp>
      <p:sp>
        <p:nvSpPr>
          <p:cNvPr id="21" name="Text 9"/>
          <p:cNvSpPr/>
          <p:nvPr/>
        </p:nvSpPr>
        <p:spPr>
          <a:xfrm>
            <a:off x="1463040" y="52760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kept with has_dentist_id flag — FE uses Two-Tier Fallback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426</Words>
  <Application>Microsoft Macintosh PowerPoint</Application>
  <PresentationFormat>Widescreen</PresentationFormat>
  <Paragraphs>118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Comic Sans MS</vt:lpstr>
      <vt:lpstr>Courier New</vt:lpstr>
      <vt:lpstr>Sarabun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DentTime Progress 3</dc:title>
  <dc:subject>PptxGenJS Presentation</dc:subject>
  <dc:creator>PptxGenJS</dc:creator>
  <cp:lastModifiedBy>Natcha Thawinpipat</cp:lastModifiedBy>
  <cp:revision>2</cp:revision>
  <dcterms:created xsi:type="dcterms:W3CDTF">2026-04-23T19:25:23Z</dcterms:created>
  <dcterms:modified xsi:type="dcterms:W3CDTF">2026-04-23T19:32:15Z</dcterms:modified>
</cp:coreProperties>
</file>
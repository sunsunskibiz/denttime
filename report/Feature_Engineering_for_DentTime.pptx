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2" r:id="rId3"/>
    <p:sldId id="275" r:id="rId4"/>
    <p:sldId id="266" r:id="rId5"/>
    <p:sldId id="271" r:id="rId6"/>
    <p:sldId id="276" r:id="rId7"/>
    <p:sldId id="267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35"/>
    <p:restoredTop sz="94610"/>
  </p:normalViewPr>
  <p:slideViewPr>
    <p:cSldViewPr snapToGrid="0" snapToObjects="1">
      <p:cViewPr>
        <p:scale>
          <a:sx n="106" d="100"/>
          <a:sy n="106" d="100"/>
        </p:scale>
        <p:origin x="-3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9091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402506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 · SE FOR ML SYSTEMS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873782" y="533400"/>
            <a:ext cx="459557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OF 5 · FEATURE ENGINEERING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638300"/>
            <a:ext cx="16874490" cy="438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000" kern="0" spc="-42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</a:t>
            </a:r>
            <a:r>
              <a:rPr lang="en-US" sz="12000" i="1" kern="0" spc="-4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Pipeline.</a:t>
            </a:r>
            <a:endParaRPr lang="en-US" sz="12000" dirty="0"/>
          </a:p>
        </p:txBody>
      </p:sp>
      <p:sp>
        <p:nvSpPr>
          <p:cNvPr id="6" name="Shape 4"/>
          <p:cNvSpPr/>
          <p:nvPr/>
        </p:nvSpPr>
        <p:spPr>
          <a:xfrm>
            <a:off x="952500" y="81915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952500" y="8543925"/>
            <a:ext cx="38654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8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52500" y="8877300"/>
            <a:ext cx="386543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 — dental scheduling AI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5162550" y="8543925"/>
            <a:ext cx="38654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8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62550" y="8877300"/>
            <a:ext cx="3865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7-class duration prediction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8543925"/>
            <a:ext cx="38654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8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372600" y="8877300"/>
            <a:ext cx="386543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· MLflow · FastAPI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582650" y="8543925"/>
            <a:ext cx="386543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8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TODAY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582650" y="8877300"/>
            <a:ext cx="386543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→ 17-feature matrix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119474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16905" y="533400"/>
            <a:ext cx="362415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WHAT WE'RE PREDICTING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TASK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85900"/>
            <a:ext cx="13735050" cy="195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pre-visit appointment data, predict which of seven duration buckets best fits the upcoming treatment.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4086225"/>
            <a:ext cx="8849297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CLASSES · MINUTES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52500" y="4514850"/>
            <a:ext cx="633264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1152525" y="4619625"/>
            <a:ext cx="309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700064" y="4514850"/>
            <a:ext cx="633264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1900089" y="4619625"/>
            <a:ext cx="309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2447627" y="4514850"/>
            <a:ext cx="633264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2647652" y="4619625"/>
            <a:ext cx="309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395216" y="4619625"/>
            <a:ext cx="195173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— long threshold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5585073" y="4514850"/>
            <a:ext cx="633264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5785098" y="4619625"/>
            <a:ext cx="309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332637" y="4514850"/>
            <a:ext cx="633264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532662" y="4619625"/>
            <a:ext cx="30941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080200" y="4514850"/>
            <a:ext cx="749796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280225" y="4619625"/>
            <a:ext cx="42594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52500" y="5505450"/>
            <a:ext cx="627888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multi-class classification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served in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a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endpoint, consumed by clinic staff via a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web UI.</a:t>
            </a:r>
          </a:p>
        </p:txBody>
      </p:sp>
      <p:sp>
        <p:nvSpPr>
          <p:cNvPr id="33" name="Shape 31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952500" y="9610725"/>
            <a:ext cx="1990130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ML TASK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  <p:sp>
        <p:nvSpPr>
          <p:cNvPr id="200" name="Shape 60"/>
          <p:cNvSpPr/>
          <p:nvPr/>
        </p:nvSpPr>
        <p:spPr>
          <a:xfrm>
            <a:off x="3187700" y="4514850"/>
            <a:ext cx="2273548" cy="457200"/>
          </a:xfrm>
          <a:prstGeom prst="roundRect">
            <a:avLst>
              <a:gd name="adj" fmla="val 50000"/>
            </a:avLst>
          </a:prstGeom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0" name="Lbl300"/>
          <p:cNvSpPr txBox="1"/>
          <p:nvPr/>
        </p:nvSpPr>
        <p:spPr>
          <a:xfrm>
            <a:off x="10099675" y="4870450"/>
            <a:ext cx="7035800" cy="2286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00" kern="0" spc="180" dirty="0">
                <a:solidFill>
                  <a:srgbClr val="7B858C"/>
                </a:solidFill>
                <a:latin typeface="Arial"/>
              </a:rPr>
              <a:t>STACK</a:t>
            </a:r>
          </a:p>
        </p:txBody>
      </p:sp>
      <p:sp>
        <p:nvSpPr>
          <p:cNvPr id="301" name="Layer301"/>
          <p:cNvSpPr/>
          <p:nvPr/>
        </p:nvSpPr>
        <p:spPr>
          <a:xfrm>
            <a:off x="10099675" y="5226050"/>
            <a:ext cx="7035800" cy="55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6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Lbl302"/>
          <p:cNvSpPr txBox="1"/>
          <p:nvPr/>
        </p:nvSpPr>
        <p:spPr>
          <a:xfrm>
            <a:off x="10353675" y="5226050"/>
            <a:ext cx="228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00" kern="0" spc="180" dirty="0">
                <a:solidFill>
                  <a:srgbClr val="7B858C"/>
                </a:solidFill>
                <a:latin typeface="Arial"/>
              </a:rPr>
              <a:t>SERVE</a:t>
            </a:r>
          </a:p>
        </p:txBody>
      </p:sp>
      <p:sp>
        <p:nvSpPr>
          <p:cNvPr id="303" name="Lbl303"/>
          <p:cNvSpPr txBox="1"/>
          <p:nvPr/>
        </p:nvSpPr>
        <p:spPr>
          <a:xfrm>
            <a:off x="12766675" y="5226050"/>
            <a:ext cx="4241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700" kern="0" spc="0" dirty="0">
                <a:solidFill>
                  <a:srgbClr val="14181B"/>
                </a:solidFill>
                <a:latin typeface="Arial"/>
              </a:rPr>
              <a:t>Docker + FastAPI</a:t>
            </a:r>
          </a:p>
        </p:txBody>
      </p:sp>
      <p:sp>
        <p:nvSpPr>
          <p:cNvPr id="304" name="Layer304"/>
          <p:cNvSpPr/>
          <p:nvPr/>
        </p:nvSpPr>
        <p:spPr>
          <a:xfrm>
            <a:off x="10099675" y="5835650"/>
            <a:ext cx="7035800" cy="558800"/>
          </a:xfrm>
          <a:prstGeom prst="rect">
            <a:avLst/>
          </a:prstGeom>
          <a:solidFill>
            <a:srgbClr val="F6F5F1"/>
          </a:solidFill>
          <a:ln w="6350">
            <a:solidFill>
              <a:srgbClr val="D9D6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Lbl305"/>
          <p:cNvSpPr txBox="1"/>
          <p:nvPr/>
        </p:nvSpPr>
        <p:spPr>
          <a:xfrm>
            <a:off x="10353675" y="5835650"/>
            <a:ext cx="228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00" kern="0" spc="180" dirty="0">
                <a:solidFill>
                  <a:srgbClr val="7B858C"/>
                </a:solidFill>
                <a:latin typeface="Arial"/>
              </a:rPr>
              <a:t>TRACKING</a:t>
            </a:r>
          </a:p>
        </p:txBody>
      </p:sp>
      <p:sp>
        <p:nvSpPr>
          <p:cNvPr id="306" name="Lbl306"/>
          <p:cNvSpPr txBox="1"/>
          <p:nvPr/>
        </p:nvSpPr>
        <p:spPr>
          <a:xfrm>
            <a:off x="12766675" y="5835650"/>
            <a:ext cx="4241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700" kern="0" spc="0" dirty="0">
                <a:solidFill>
                  <a:srgbClr val="14181B"/>
                </a:solidFill>
                <a:latin typeface="Arial"/>
              </a:rPr>
              <a:t>MLflow registry</a:t>
            </a:r>
          </a:p>
        </p:txBody>
      </p:sp>
      <p:sp>
        <p:nvSpPr>
          <p:cNvPr id="307" name="Layer307"/>
          <p:cNvSpPr/>
          <p:nvPr/>
        </p:nvSpPr>
        <p:spPr>
          <a:xfrm>
            <a:off x="10099675" y="6445250"/>
            <a:ext cx="7035800" cy="558800"/>
          </a:xfrm>
          <a:prstGeom prst="rect">
            <a:avLst/>
          </a:prstGeom>
          <a:solidFill>
            <a:srgbClr val="EDE9DE"/>
          </a:solidFill>
          <a:ln w="6350">
            <a:solidFill>
              <a:srgbClr val="D9D6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Lbl308"/>
          <p:cNvSpPr txBox="1"/>
          <p:nvPr/>
        </p:nvSpPr>
        <p:spPr>
          <a:xfrm>
            <a:off x="10353675" y="6445250"/>
            <a:ext cx="228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00" kern="0" spc="180" dirty="0">
                <a:solidFill>
                  <a:srgbClr val="7B858C"/>
                </a:solidFill>
                <a:latin typeface="Arial"/>
              </a:rPr>
              <a:t>ORCHESTRATION</a:t>
            </a:r>
          </a:p>
        </p:txBody>
      </p:sp>
      <p:sp>
        <p:nvSpPr>
          <p:cNvPr id="309" name="Lbl309"/>
          <p:cNvSpPr txBox="1"/>
          <p:nvPr/>
        </p:nvSpPr>
        <p:spPr>
          <a:xfrm>
            <a:off x="12766675" y="6445250"/>
            <a:ext cx="4241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700" kern="0" spc="0" dirty="0">
                <a:solidFill>
                  <a:srgbClr val="14181B"/>
                </a:solidFill>
                <a:latin typeface="Arial"/>
              </a:rPr>
              <a:t>Apache Airflow DAG</a:t>
            </a:r>
          </a:p>
        </p:txBody>
      </p:sp>
      <p:sp>
        <p:nvSpPr>
          <p:cNvPr id="310" name="Layer310"/>
          <p:cNvSpPr/>
          <p:nvPr/>
        </p:nvSpPr>
        <p:spPr>
          <a:xfrm>
            <a:off x="10099675" y="7054850"/>
            <a:ext cx="7035800" cy="558800"/>
          </a:xfrm>
          <a:prstGeom prst="rect">
            <a:avLst/>
          </a:prstGeom>
          <a:solidFill>
            <a:srgbClr val="D9D6CC"/>
          </a:solidFill>
          <a:ln w="6350">
            <a:solidFill>
              <a:srgbClr val="D9D6C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1" name="Lbl311"/>
          <p:cNvSpPr txBox="1"/>
          <p:nvPr/>
        </p:nvSpPr>
        <p:spPr>
          <a:xfrm>
            <a:off x="10353675" y="7054850"/>
            <a:ext cx="22860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400" kern="0" spc="180" dirty="0">
                <a:solidFill>
                  <a:srgbClr val="7B858C"/>
                </a:solidFill>
                <a:latin typeface="Arial"/>
              </a:rPr>
              <a:t>MODEL</a:t>
            </a:r>
          </a:p>
        </p:txBody>
      </p:sp>
      <p:sp>
        <p:nvSpPr>
          <p:cNvPr id="312" name="Lbl312"/>
          <p:cNvSpPr txBox="1"/>
          <p:nvPr/>
        </p:nvSpPr>
        <p:spPr>
          <a:xfrm>
            <a:off x="12766675" y="7054850"/>
            <a:ext cx="4241800" cy="558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700" kern="0" spc="0" dirty="0">
                <a:solidFill>
                  <a:srgbClr val="14181B"/>
                </a:solidFill>
                <a:latin typeface="Arial"/>
              </a:rPr>
              <a:t>XGBoost classifier</a:t>
            </a:r>
          </a:p>
        </p:txBody>
      </p:sp>
    </p:spTree>
    <p:extLst>
      <p:ext uri="{BB962C8B-B14F-4D97-AF65-F5344CB8AC3E}">
        <p14:creationId xmlns:p14="http://schemas.microsoft.com/office/powerpoint/2010/main" val="1466938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11536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3847415" y="533400"/>
            <a:ext cx="35927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SIX STAGES, ONE SCRIPT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FEATURE_ENGINEERING.PY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85900"/>
            <a:ext cx="168744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CSV in, reproducible feature matrix out.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2314575"/>
            <a:ext cx="12753975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modules orchestrated in a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sequence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build_profiles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feature_transformer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treatment_mapper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700" b="1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tooth_parser</a:t>
            </a:r>
            <a:r>
              <a:rPr lang="en-US" sz="27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</p:txBody>
      </p:sp>
      <p:sp>
        <p:nvSpPr>
          <p:cNvPr id="7" name="Shape 5"/>
          <p:cNvSpPr/>
          <p:nvPr/>
        </p:nvSpPr>
        <p:spPr>
          <a:xfrm>
            <a:off x="952500" y="6305550"/>
            <a:ext cx="2539901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1190625" y="6581775"/>
            <a:ext cx="21398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LOAD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90625" y="6943725"/>
            <a:ext cx="2139851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≤ 2025-02    test = 2025-04</a:t>
            </a:r>
          </a:p>
        </p:txBody>
      </p:sp>
      <p:sp>
        <p:nvSpPr>
          <p:cNvPr id="10" name="Shape 8"/>
          <p:cNvSpPr/>
          <p:nvPr/>
        </p:nvSpPr>
        <p:spPr>
          <a:xfrm>
            <a:off x="1190625" y="8591550"/>
            <a:ext cx="2063651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1190625" y="8734425"/>
            <a:ext cx="213985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&amp; split by time</a:t>
            </a:r>
          </a:p>
        </p:txBody>
      </p:sp>
      <p:sp>
        <p:nvSpPr>
          <p:cNvPr id="12" name="Shape 10"/>
          <p:cNvSpPr/>
          <p:nvPr/>
        </p:nvSpPr>
        <p:spPr>
          <a:xfrm>
            <a:off x="3721001" y="6305550"/>
            <a:ext cx="2540050" cy="3219450"/>
          </a:xfrm>
          <a:prstGeom prst="rect">
            <a:avLst/>
          </a:prstGeom>
          <a:solidFill>
            <a:schemeClr val="bg1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959126" y="6581775"/>
            <a:ext cx="2140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GUARD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3959126" y="6943725"/>
            <a:ext cx="2140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columns removed · hard-fail at inference</a:t>
            </a:r>
          </a:p>
        </p:txBody>
      </p:sp>
      <p:sp>
        <p:nvSpPr>
          <p:cNvPr id="15" name="Shape 13"/>
          <p:cNvSpPr/>
          <p:nvPr/>
        </p:nvSpPr>
        <p:spPr>
          <a:xfrm>
            <a:off x="3959126" y="8591550"/>
            <a:ext cx="2063800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959126" y="8734425"/>
            <a:ext cx="21400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post-visit leakage columns</a:t>
            </a:r>
          </a:p>
        </p:txBody>
      </p:sp>
      <p:sp>
        <p:nvSpPr>
          <p:cNvPr id="17" name="Shape 15"/>
          <p:cNvSpPr/>
          <p:nvPr/>
        </p:nvSpPr>
        <p:spPr>
          <a:xfrm>
            <a:off x="6489650" y="6305550"/>
            <a:ext cx="25400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6727775" y="6581775"/>
            <a:ext cx="2140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PROFILE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727775" y="6943725"/>
            <a:ext cx="2140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doctor_profile.json · clinic_profile.json</a:t>
            </a:r>
          </a:p>
        </p:txBody>
      </p:sp>
      <p:sp>
        <p:nvSpPr>
          <p:cNvPr id="20" name="Shape 18"/>
          <p:cNvSpPr/>
          <p:nvPr/>
        </p:nvSpPr>
        <p:spPr>
          <a:xfrm>
            <a:off x="6727775" y="8591550"/>
            <a:ext cx="2063800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6727775" y="8734425"/>
            <a:ext cx="21400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doctor &amp; clinic profiles</a:t>
            </a:r>
          </a:p>
        </p:txBody>
      </p:sp>
      <p:sp>
        <p:nvSpPr>
          <p:cNvPr id="22" name="Shape 20"/>
          <p:cNvSpPr/>
          <p:nvPr/>
        </p:nvSpPr>
        <p:spPr>
          <a:xfrm>
            <a:off x="9258300" y="6305550"/>
            <a:ext cx="2539901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9496425" y="6581775"/>
            <a:ext cx="213985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ENCODE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9496425" y="6943725"/>
            <a:ext cx="213985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treatment_encoding.json · sorted int map</a:t>
            </a:r>
          </a:p>
        </p:txBody>
      </p:sp>
      <p:sp>
        <p:nvSpPr>
          <p:cNvPr id="25" name="Shape 23"/>
          <p:cNvSpPr/>
          <p:nvPr/>
        </p:nvSpPr>
        <p:spPr>
          <a:xfrm>
            <a:off x="9496425" y="8591550"/>
            <a:ext cx="2063651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9496425" y="8734425"/>
            <a:ext cx="2139851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deterministic treatment map</a:t>
            </a:r>
          </a:p>
        </p:txBody>
      </p:sp>
      <p:sp>
        <p:nvSpPr>
          <p:cNvPr id="27" name="Shape 25"/>
          <p:cNvSpPr/>
          <p:nvPr/>
        </p:nvSpPr>
        <p:spPr>
          <a:xfrm>
            <a:off x="12026801" y="6305550"/>
            <a:ext cx="25400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12264926" y="6581775"/>
            <a:ext cx="2140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TRANSFORM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2264926" y="6943725"/>
            <a:ext cx="2140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target columns · column allowlist</a:t>
            </a:r>
          </a:p>
        </p:txBody>
      </p:sp>
      <p:sp>
        <p:nvSpPr>
          <p:cNvPr id="30" name="Shape 28"/>
          <p:cNvSpPr/>
          <p:nvPr/>
        </p:nvSpPr>
        <p:spPr>
          <a:xfrm>
            <a:off x="12264926" y="8591550"/>
            <a:ext cx="2063800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12264926" y="8734425"/>
            <a:ext cx="21400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to 17 numeric features</a:t>
            </a:r>
          </a:p>
        </p:txBody>
      </p:sp>
      <p:sp>
        <p:nvSpPr>
          <p:cNvPr id="32" name="Shape 30"/>
          <p:cNvSpPr/>
          <p:nvPr/>
        </p:nvSpPr>
        <p:spPr>
          <a:xfrm>
            <a:off x="14795450" y="6305550"/>
            <a:ext cx="2540050" cy="3219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15033575" y="6581775"/>
            <a:ext cx="21400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WRITE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5033575" y="6943725"/>
            <a:ext cx="21400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5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features_train.parquet · features_test.parquet</a:t>
            </a:r>
          </a:p>
        </p:txBody>
      </p:sp>
      <p:sp>
        <p:nvSpPr>
          <p:cNvPr id="35" name="Shape 33"/>
          <p:cNvSpPr/>
          <p:nvPr/>
        </p:nvSpPr>
        <p:spPr>
          <a:xfrm>
            <a:off x="15033575" y="8334375"/>
            <a:ext cx="2063800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15033575" y="8477250"/>
            <a:ext cx="214000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Serialise parquet + stats</a:t>
            </a:r>
          </a:p>
        </p:txBody>
      </p:sp>
      <p:sp>
        <p:nvSpPr>
          <p:cNvPr id="37" name="Shape 35"/>
          <p:cNvSpPr/>
          <p:nvPr/>
        </p:nvSpPr>
        <p:spPr>
          <a:xfrm>
            <a:off x="952500" y="9558337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952500" y="9610725"/>
            <a:ext cx="281614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PIPELINE OVERVIEW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  <p:sp>
        <p:nvSpPr>
          <p:cNvPr id="300" name="DAG Label"/>
          <p:cNvSpPr txBox="1"/>
          <p:nvPr/>
        </p:nvSpPr>
        <p:spPr>
          <a:xfrm>
            <a:off x="952500" y="3302000"/>
            <a:ext cx="5080000" cy="203200"/>
          </a:xfrm>
          <a:prstGeom prst="rect">
            <a:avLst/>
          </a:prstGeom>
          <a:noFill/>
        </p:spPr>
        <p:txBody>
          <a:bodyPr wrap="square" lIns="0" tIns="0" rIns="0" bIns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00" spc="200" dirty="0">
                <a:solidFill>
                  <a:srgbClr val="7B858C"/>
                </a:solidFill>
                <a:latin typeface="Arial"/>
              </a:rPr>
              <a:t>DAG · AIRFLOW TASK GRAPH</a:t>
            </a:r>
          </a:p>
        </p:txBody>
      </p:sp>
      <p:sp>
        <p:nvSpPr>
          <p:cNvPr id="301" name="DAG task_load_and_split"/>
          <p:cNvSpPr/>
          <p:nvPr/>
        </p:nvSpPr>
        <p:spPr>
          <a:xfrm>
            <a:off x="1206500" y="46990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task_load_and_split</a:t>
            </a:r>
          </a:p>
        </p:txBody>
      </p:sp>
      <p:sp>
        <p:nvSpPr>
          <p:cNvPr id="302" name="DAG task_build_treatment_encoding"/>
          <p:cNvSpPr/>
          <p:nvPr/>
        </p:nvSpPr>
        <p:spPr>
          <a:xfrm>
            <a:off x="5080000" y="36195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task_build_treatment_encoding</a:t>
            </a:r>
          </a:p>
        </p:txBody>
      </p:sp>
      <p:sp>
        <p:nvSpPr>
          <p:cNvPr id="303" name="DAG task_build_doctor_profile"/>
          <p:cNvSpPr/>
          <p:nvPr/>
        </p:nvSpPr>
        <p:spPr>
          <a:xfrm>
            <a:off x="5080000" y="46990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task_build_doctor_profile</a:t>
            </a:r>
          </a:p>
        </p:txBody>
      </p:sp>
      <p:sp>
        <p:nvSpPr>
          <p:cNvPr id="304" name="DAG task_build_clinic_profile"/>
          <p:cNvSpPr/>
          <p:nvPr/>
        </p:nvSpPr>
        <p:spPr>
          <a:xfrm>
            <a:off x="5080000" y="57785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task_build_clinic_profile</a:t>
            </a:r>
          </a:p>
        </p:txBody>
      </p:sp>
      <p:sp>
        <p:nvSpPr>
          <p:cNvPr id="305" name="DAG task_transform_train"/>
          <p:cNvSpPr/>
          <p:nvPr/>
        </p:nvSpPr>
        <p:spPr>
          <a:xfrm>
            <a:off x="9461500" y="36195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task_transform_train</a:t>
            </a:r>
          </a:p>
        </p:txBody>
      </p:sp>
      <p:sp>
        <p:nvSpPr>
          <p:cNvPr id="306" name="DAG task_transform_test"/>
          <p:cNvSpPr/>
          <p:nvPr/>
        </p:nvSpPr>
        <p:spPr>
          <a:xfrm>
            <a:off x="9461500" y="57785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task_transform_test</a:t>
            </a:r>
          </a:p>
        </p:txBody>
      </p:sp>
      <p:sp>
        <p:nvSpPr>
          <p:cNvPr id="307" name="DAG task_compute_feature_stats"/>
          <p:cNvSpPr/>
          <p:nvPr/>
        </p:nvSpPr>
        <p:spPr>
          <a:xfrm>
            <a:off x="14160500" y="4699000"/>
            <a:ext cx="2921000" cy="508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D9D6CC"/>
            </a:solidFill>
          </a:ln>
        </p:spPr>
        <p:txBody>
          <a:bodyPr wrap="square" lIns="45720" tIns="45720" rIns="45720" bIns="4572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4181B"/>
                </a:solidFill>
                <a:latin typeface="Consolas"/>
              </a:rPr>
              <a:t>task_compute_feature_stats</a:t>
            </a:r>
          </a:p>
        </p:txBody>
      </p:sp>
      <p:cxnSp>
        <p:nvCxnSpPr>
          <p:cNvPr id="308" name="DAG arrow"/>
          <p:cNvCxnSpPr/>
          <p:nvPr/>
        </p:nvCxnSpPr>
        <p:spPr>
          <a:xfrm flipV="1">
            <a:off x="4127500" y="3873500"/>
            <a:ext cx="952500" cy="10795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DAG arrow"/>
          <p:cNvCxnSpPr/>
          <p:nvPr/>
        </p:nvCxnSpPr>
        <p:spPr>
          <a:xfrm>
            <a:off x="4127500" y="4953000"/>
            <a:ext cx="952500" cy="127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DAG arrow"/>
          <p:cNvCxnSpPr/>
          <p:nvPr/>
        </p:nvCxnSpPr>
        <p:spPr>
          <a:xfrm>
            <a:off x="4127500" y="4953000"/>
            <a:ext cx="952500" cy="10795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DAG arrow"/>
          <p:cNvCxnSpPr/>
          <p:nvPr/>
        </p:nvCxnSpPr>
        <p:spPr>
          <a:xfrm>
            <a:off x="8001000" y="3873500"/>
            <a:ext cx="1460500" cy="127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DAG arrow"/>
          <p:cNvCxnSpPr/>
          <p:nvPr/>
        </p:nvCxnSpPr>
        <p:spPr>
          <a:xfrm>
            <a:off x="8001000" y="3873500"/>
            <a:ext cx="1460500" cy="21590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DAG arrow"/>
          <p:cNvCxnSpPr/>
          <p:nvPr/>
        </p:nvCxnSpPr>
        <p:spPr>
          <a:xfrm flipV="1">
            <a:off x="8001000" y="3873500"/>
            <a:ext cx="1460500" cy="10795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DAG arrow"/>
          <p:cNvCxnSpPr/>
          <p:nvPr/>
        </p:nvCxnSpPr>
        <p:spPr>
          <a:xfrm>
            <a:off x="8001000" y="4953000"/>
            <a:ext cx="1460500" cy="10795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DAG arrow"/>
          <p:cNvCxnSpPr/>
          <p:nvPr/>
        </p:nvCxnSpPr>
        <p:spPr>
          <a:xfrm flipV="1">
            <a:off x="8001000" y="3873500"/>
            <a:ext cx="1460500" cy="21590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DAG arrow"/>
          <p:cNvCxnSpPr/>
          <p:nvPr/>
        </p:nvCxnSpPr>
        <p:spPr>
          <a:xfrm>
            <a:off x="8001000" y="6032500"/>
            <a:ext cx="1460500" cy="127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DAG arrow"/>
          <p:cNvCxnSpPr/>
          <p:nvPr/>
        </p:nvCxnSpPr>
        <p:spPr>
          <a:xfrm>
            <a:off x="12382500" y="3873500"/>
            <a:ext cx="1778000" cy="10795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DAG arrow"/>
          <p:cNvCxnSpPr/>
          <p:nvPr/>
        </p:nvCxnSpPr>
        <p:spPr>
          <a:xfrm flipV="1">
            <a:off x="12382500" y="4953000"/>
            <a:ext cx="1778000" cy="1079500"/>
          </a:xfrm>
          <a:prstGeom prst="straightConnector1">
            <a:avLst/>
          </a:prstGeom>
          <a:ln w="9525">
            <a:solidFill>
              <a:srgbClr val="3A4146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4552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7423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723614" y="533400"/>
            <a:ext cx="475024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CHRONOLOGICAL, NEVER RANDOM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68713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STRATEGY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85900"/>
            <a:ext cx="6871357" cy="195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only ever predicts into the </a:t>
            </a:r>
            <a:r>
              <a:rPr lang="en-US" sz="4800" i="1" kern="0" spc="-7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3743325"/>
            <a:ext cx="6871357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random shuffle mixes past and future records — it would flatter the offline score but collapse in production.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5429250"/>
            <a:ext cx="687135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 2025 is absent from the source data. The pipeline logs the gap explicitly rather than silently skipping it.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09521" y="3148013"/>
            <a:ext cx="92966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· 2024–2025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09521" y="4681538"/>
            <a:ext cx="9025830" cy="19050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309521" y="4529138"/>
            <a:ext cx="5660479" cy="334962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8461921" y="4529138"/>
            <a:ext cx="577296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· ≤ 2025-02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3970000" y="4064000"/>
            <a:ext cx="1463129" cy="342900"/>
          </a:xfrm>
          <a:prstGeom prst="rect">
            <a:avLst/>
          </a:prstGeom>
          <a:solidFill>
            <a:srgbClr val="D9D6CC"/>
          </a:solidFill>
          <a:ln w="9525">
            <a:solidFill>
              <a:srgbClr val="7B858C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13944600" y="4064000"/>
            <a:ext cx="152027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2025-03 · gap</a:t>
            </a:r>
            <a:endParaRPr lang="en-US" sz="1200" dirty="0"/>
          </a:p>
        </p:txBody>
      </p:sp>
      <p:sp>
        <p:nvSpPr>
          <p:cNvPr id="201" name="TEST Pill"/>
          <p:cNvSpPr/>
          <p:nvPr/>
        </p:nvSpPr>
        <p:spPr>
          <a:xfrm>
            <a:off x="15506700" y="4533900"/>
            <a:ext cx="2057400" cy="330200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15501938" y="4529138"/>
            <a:ext cx="206186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· 2025-04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009483" y="4967288"/>
            <a:ext cx="6767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2024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624471" y="4967288"/>
            <a:ext cx="6427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'25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5201900" y="4967288"/>
            <a:ext cx="371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7202001" y="4967288"/>
            <a:ext cx="34304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'25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952500" y="9610725"/>
            <a:ext cx="260404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TIME-BASED SPLIT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297237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208748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GUARD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923788" y="533400"/>
            <a:ext cx="454406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FAILURE, NOT SILENT ACCURACY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808405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DROP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85900"/>
            <a:ext cx="8084058" cy="195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post-visit columns are banned before any feature is created.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6848476"/>
            <a:ext cx="70637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transformer raises a hard </a:t>
            </a:r>
            <a:r>
              <a:rPr lang="en-US" sz="25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ValueError </a:t>
            </a:r>
            <a:r>
              <a:rPr lang="en-US" sz="25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these columns appear at inference time — so leakage becomes a </a:t>
            </a:r>
            <a:r>
              <a:rPr lang="en-US" sz="25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detectable failure </a:t>
            </a:r>
            <a:r>
              <a:rPr lang="en-US" sz="25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never a silent accuracy inflation.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486900" y="3295892"/>
            <a:ext cx="808405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LEAKAGE_COLUMNS · BANLIST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486900" y="3765792"/>
            <a:ext cx="7848600" cy="3302000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952500" y="9610725"/>
            <a:ext cx="243066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LEAKAGE GUARD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  <p:sp>
        <p:nvSpPr>
          <p:cNvPr id="400" name="Lbl400"/>
          <p:cNvSpPr txBox="1"/>
          <p:nvPr/>
        </p:nvSpPr>
        <p:spPr>
          <a:xfrm>
            <a:off x="9779000" y="4070592"/>
            <a:ext cx="7302500" cy="3048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buNone/>
            </a:pPr>
            <a:r>
              <a:rPr lang="en-US" sz="1500" i="1" kern="0" spc="0" dirty="0">
                <a:solidFill>
                  <a:srgbClr val="7B858C"/>
                </a:solidFill>
                <a:latin typeface="Arial"/>
              </a:rPr>
              <a:t># Known only AFTER the visit concludes</a:t>
            </a:r>
          </a:p>
        </p:txBody>
      </p:sp>
      <p:sp>
        <p:nvSpPr>
          <p:cNvPr id="401" name="Chip401"/>
          <p:cNvSpPr/>
          <p:nvPr/>
        </p:nvSpPr>
        <p:spPr>
          <a:xfrm>
            <a:off x="9639300" y="5264392"/>
            <a:ext cx="2413000" cy="660400"/>
          </a:xfrm>
          <a:prstGeom prst="roundRect">
            <a:avLst>
              <a:gd name="adj" fmla="val 20000"/>
            </a:avLst>
          </a:prstGeom>
          <a:solidFill>
            <a:srgbClr val="1F262B"/>
          </a:solidFill>
          <a:ln w="9525">
            <a:solidFill>
              <a:srgbClr val="9BC1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2" name="ChipLbl402"/>
          <p:cNvSpPr txBox="1"/>
          <p:nvPr/>
        </p:nvSpPr>
        <p:spPr>
          <a:xfrm>
            <a:off x="9639300" y="5264392"/>
            <a:ext cx="2413000" cy="660400"/>
          </a:xfrm>
          <a:prstGeom prst="rect">
            <a:avLst/>
          </a:prstGeom>
          <a:noFill/>
        </p:spPr>
        <p:txBody>
          <a:bodyPr wrap="square" lIns="45720" tIns="0" rIns="45720" bIns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9BC1A8"/>
                </a:solidFill>
                <a:latin typeface="Consolas"/>
              </a:rPr>
              <a:t>checkin_delay_min</a:t>
            </a:r>
          </a:p>
        </p:txBody>
      </p:sp>
      <p:sp>
        <p:nvSpPr>
          <p:cNvPr id="403" name="Chip403"/>
          <p:cNvSpPr/>
          <p:nvPr/>
        </p:nvSpPr>
        <p:spPr>
          <a:xfrm>
            <a:off x="12204700" y="5264392"/>
            <a:ext cx="2413000" cy="660400"/>
          </a:xfrm>
          <a:prstGeom prst="roundRect">
            <a:avLst>
              <a:gd name="adj" fmla="val 20000"/>
            </a:avLst>
          </a:prstGeom>
          <a:solidFill>
            <a:srgbClr val="1F262B"/>
          </a:solidFill>
          <a:ln w="9525">
            <a:solidFill>
              <a:srgbClr val="9BC1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4" name="ChipLbl404"/>
          <p:cNvSpPr txBox="1"/>
          <p:nvPr/>
        </p:nvSpPr>
        <p:spPr>
          <a:xfrm>
            <a:off x="12204700" y="5264392"/>
            <a:ext cx="2413000" cy="660400"/>
          </a:xfrm>
          <a:prstGeom prst="rect">
            <a:avLst/>
          </a:prstGeom>
          <a:noFill/>
        </p:spPr>
        <p:txBody>
          <a:bodyPr wrap="square" lIns="45720" tIns="0" rIns="45720" bIns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9BC1A8"/>
                </a:solidFill>
                <a:latin typeface="Consolas"/>
              </a:rPr>
              <a:t>tx_record_offset_min</a:t>
            </a:r>
          </a:p>
        </p:txBody>
      </p:sp>
      <p:sp>
        <p:nvSpPr>
          <p:cNvPr id="405" name="Chip405"/>
          <p:cNvSpPr/>
          <p:nvPr/>
        </p:nvSpPr>
        <p:spPr>
          <a:xfrm>
            <a:off x="14770100" y="5264392"/>
            <a:ext cx="2413000" cy="660400"/>
          </a:xfrm>
          <a:prstGeom prst="roundRect">
            <a:avLst>
              <a:gd name="adj" fmla="val 20000"/>
            </a:avLst>
          </a:prstGeom>
          <a:solidFill>
            <a:srgbClr val="1F262B"/>
          </a:solidFill>
          <a:ln w="9525">
            <a:solidFill>
              <a:srgbClr val="9BC1A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6" name="ChipLbl406"/>
          <p:cNvSpPr txBox="1"/>
          <p:nvPr/>
        </p:nvSpPr>
        <p:spPr>
          <a:xfrm>
            <a:off x="14770100" y="5264392"/>
            <a:ext cx="2413000" cy="660400"/>
          </a:xfrm>
          <a:prstGeom prst="rect">
            <a:avLst/>
          </a:prstGeom>
          <a:noFill/>
        </p:spPr>
        <p:txBody>
          <a:bodyPr wrap="square" lIns="45720" tIns="0" rIns="45720" bIns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9BC1A8"/>
                </a:solidFill>
                <a:latin typeface="Consolas"/>
              </a:rPr>
              <a:t>receipt_offset_min</a:t>
            </a:r>
          </a:p>
        </p:txBody>
      </p:sp>
    </p:spTree>
    <p:extLst>
      <p:ext uri="{BB962C8B-B14F-4D97-AF65-F5344CB8AC3E}">
        <p14:creationId xmlns:p14="http://schemas.microsoft.com/office/powerpoint/2010/main" val="3272015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210762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MATRIX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764691" y="533400"/>
            <a:ext cx="47079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WHAT THE MODEL ACTUALLY SEES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2371725"/>
            <a:ext cx="565881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SCHEMA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057525"/>
            <a:ext cx="565881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15000" i="1" kern="0" spc="-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952500" y="5038725"/>
            <a:ext cx="5658810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across four groups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952500" y="6200775"/>
            <a:ext cx="4905375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 two targets — </a:t>
            </a:r>
            <a:r>
              <a:rPr lang="en-US" sz="21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duration_class </a:t>
            </a: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</a:t>
            </a:r>
            <a:r>
              <a:rPr lang="en-US" sz="21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scheduled_duration_min </a:t>
            </a: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transformer enforces the column allowlist; anything missing raises a BUG-tagged error.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132290" y="952500"/>
            <a:ext cx="4987230" cy="37004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9" name="Shape 7"/>
          <p:cNvSpPr/>
          <p:nvPr/>
        </p:nvSpPr>
        <p:spPr>
          <a:xfrm>
            <a:off x="7446615" y="1752600"/>
            <a:ext cx="4358580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7446615" y="1266825"/>
            <a:ext cx="145390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683901" y="1371600"/>
            <a:ext cx="1974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446615" y="1990725"/>
            <a:ext cx="15156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treatment_class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644164" y="1990725"/>
            <a:ext cx="2372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46615" y="2305050"/>
            <a:ext cx="20490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composite_treatment_flag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601748" y="2305050"/>
            <a:ext cx="2796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2348121" y="952500"/>
            <a:ext cx="4987379" cy="3700463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12662446" y="1752600"/>
            <a:ext cx="4358729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12662446" y="1266825"/>
            <a:ext cx="20755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Tooth anatomy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899880" y="1371600"/>
            <a:ext cx="1974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662446" y="1990725"/>
            <a:ext cx="11154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has_tooth_no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817727" y="1990725"/>
            <a:ext cx="2796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662446" y="2305050"/>
            <a:ext cx="9722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tooth_count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6860143" y="2305050"/>
            <a:ext cx="2372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662446" y="2619375"/>
            <a:ext cx="14582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is_area_treatment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817727" y="2619375"/>
            <a:ext cx="2796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662446" y="2933700"/>
            <a:ext cx="115326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surface_count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860143" y="2933700"/>
            <a:ext cx="2372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290" y="4881563"/>
            <a:ext cx="4987230" cy="46434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 dirty="0"/>
          </a:p>
        </p:txBody>
      </p:sp>
      <p:sp>
        <p:nvSpPr>
          <p:cNvPr id="29" name="Shape 27"/>
          <p:cNvSpPr/>
          <p:nvPr/>
        </p:nvSpPr>
        <p:spPr>
          <a:xfrm>
            <a:off x="7446615" y="5681663"/>
            <a:ext cx="4358580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7446615" y="5195888"/>
            <a:ext cx="286213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 context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1683901" y="5300663"/>
            <a:ext cx="1974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46615" y="5919788"/>
            <a:ext cx="106754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total_amount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517064" y="5919788"/>
            <a:ext cx="36433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float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46615" y="6234113"/>
            <a:ext cx="86751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has_notes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1601748" y="6234113"/>
            <a:ext cx="2796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46615" y="6548438"/>
            <a:ext cx="15156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appt_day_of_week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1550848" y="6548438"/>
            <a:ext cx="33054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46615" y="6862763"/>
            <a:ext cx="14489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appt_hour_bucket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1063734" y="6862763"/>
            <a:ext cx="8176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 sentinel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446615" y="7177088"/>
            <a:ext cx="102914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is_first_case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1601748" y="7177088"/>
            <a:ext cx="2796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46615" y="7491413"/>
            <a:ext cx="11819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has_dentist_id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601748" y="7491413"/>
            <a:ext cx="2796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446615" y="7805738"/>
            <a:ext cx="204936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appointment_rank_in_day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1644164" y="7805738"/>
            <a:ext cx="2372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12348121" y="4881563"/>
            <a:ext cx="4987379" cy="4643438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Shape 45"/>
          <p:cNvSpPr/>
          <p:nvPr/>
        </p:nvSpPr>
        <p:spPr>
          <a:xfrm>
            <a:off x="12662446" y="5681663"/>
            <a:ext cx="4358729" cy="9525"/>
          </a:xfrm>
          <a:prstGeom prst="rect">
            <a:avLst/>
          </a:prstGeom>
          <a:solidFill>
            <a:srgbClr val="E8E4D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12662446" y="5195888"/>
            <a:ext cx="227841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profiles</a:t>
            </a:r>
            <a:endParaRPr lang="en-US" sz="2400" dirty="0"/>
          </a:p>
        </p:txBody>
      </p:sp>
      <p:sp>
        <p:nvSpPr>
          <p:cNvPr id="49" name="Text 47"/>
          <p:cNvSpPr/>
          <p:nvPr/>
        </p:nvSpPr>
        <p:spPr>
          <a:xfrm>
            <a:off x="16899880" y="5300663"/>
            <a:ext cx="197495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2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12662446" y="5919788"/>
            <a:ext cx="1925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doctor_median_duration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16775609" y="5919788"/>
            <a:ext cx="3217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2662446" y="6234113"/>
            <a:ext cx="12962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doctor_pct_long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16480036" y="6234113"/>
            <a:ext cx="6173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≥60 min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12662446" y="6548438"/>
            <a:ext cx="182999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clinic_median_duration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16775609" y="6548438"/>
            <a:ext cx="32176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2662446" y="6862763"/>
            <a:ext cx="1200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clinic_pct_long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16480036" y="6862763"/>
            <a:ext cx="6173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≥60 min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9" name="Text 57"/>
          <p:cNvSpPr/>
          <p:nvPr/>
        </p:nvSpPr>
        <p:spPr>
          <a:xfrm>
            <a:off x="952500" y="9610725"/>
            <a:ext cx="257294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FEATURE GROUPS</a:t>
            </a:r>
            <a:endParaRPr lang="en-US" sz="1500" dirty="0"/>
          </a:p>
        </p:txBody>
      </p:sp>
      <p:sp>
        <p:nvSpPr>
          <p:cNvPr id="60" name="Text 58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105178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301043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TREATMENT_MAPPER.PY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005370" y="533400"/>
            <a:ext cx="549003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MESSY STRINGS → CANONICAL CLASSES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LOOKUP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85900"/>
            <a:ext cx="16874490" cy="1952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raw treatment string passes through three fallbacks before landing on </a:t>
            </a:r>
            <a:r>
              <a:rPr lang="en-US" sz="4800" i="1" kern="0" spc="-7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4552950"/>
            <a:ext cx="5257800" cy="497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304925" y="4943475"/>
            <a:ext cx="4689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01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4925" y="5381625"/>
            <a:ext cx="468953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prefix regex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04925" y="5962650"/>
            <a:ext cx="468953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a short alphabetic code before an em-dash and map it directly to a canonical class.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304925" y="8296275"/>
            <a:ext cx="4552950" cy="838200"/>
          </a:xfrm>
          <a:prstGeom prst="rect">
            <a:avLst/>
          </a:prstGeom>
          <a:solidFill>
            <a:srgbClr val="F6F5F1"/>
          </a:solidFill>
          <a:ln w="9525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1504950" y="8458200"/>
            <a:ext cx="428948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“At — ปรับเครื่องมือ”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At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515100" y="4552950"/>
            <a:ext cx="5257800" cy="497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867525" y="4943475"/>
            <a:ext cx="4689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02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867525" y="5381625"/>
            <a:ext cx="468953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alias lookup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6867525" y="5962650"/>
            <a:ext cx="468953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Lowercased full string matched against a reverse alias dictionary — deterministic and cheap.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867525" y="8296275"/>
            <a:ext cx="4552950" cy="838200"/>
          </a:xfrm>
          <a:prstGeom prst="rect">
            <a:avLst/>
          </a:prstGeom>
          <a:solidFill>
            <a:srgbClr val="F6F5F1"/>
          </a:solidFill>
          <a:ln w="9525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7067550" y="8458200"/>
            <a:ext cx="428948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“อุดฟันสี” </a:t>
            </a: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COMPOSITE_FILL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077700" y="4552950"/>
            <a:ext cx="5257800" cy="49720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12430125" y="4943475"/>
            <a:ext cx="468953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6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03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2430125" y="5381625"/>
            <a:ext cx="468953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8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match · RapidFuzz</a:t>
            </a:r>
            <a:endParaRPr lang="en-US" sz="2850" dirty="0"/>
          </a:p>
        </p:txBody>
      </p:sp>
      <p:sp>
        <p:nvSpPr>
          <p:cNvPr id="21" name="Text 19"/>
          <p:cNvSpPr/>
          <p:nvPr/>
        </p:nvSpPr>
        <p:spPr>
          <a:xfrm>
            <a:off x="12430125" y="5962650"/>
            <a:ext cx="468953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partial_ratio with threshold </a:t>
            </a:r>
            <a:r>
              <a:rPr lang="en-US" sz="21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</a:t>
            </a: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Below threshold → </a:t>
            </a:r>
            <a:r>
              <a:rPr lang="en-US" sz="21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 </a:t>
            </a: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Run-time warning fires if unknown rate &gt; 10%.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12430125" y="8296275"/>
            <a:ext cx="4552950" cy="838200"/>
          </a:xfrm>
          <a:prstGeom prst="rect">
            <a:avLst/>
          </a:prstGeom>
          <a:solidFill>
            <a:srgbClr val="F6F5F1"/>
          </a:solidFill>
          <a:ln w="9525">
            <a:solidFill>
              <a:srgbClr val="E8E4D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12630150" y="8458200"/>
            <a:ext cx="428948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"composit fill"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6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92 ·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COMPOSITE_FILL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952500" y="9610725"/>
            <a:ext cx="286887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TREATMENT MAPPER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87218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101109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535745" y="533400"/>
            <a:ext cx="28837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WHY WE ROUND UP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3276600"/>
            <a:ext cx="687135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DURATION_CLASS · CEILING BINNING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3810000"/>
            <a:ext cx="6871357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round </a:t>
            </a:r>
            <a:r>
              <a:rPr lang="en-US" sz="4800" i="1" kern="0" spc="-7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up.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52500" y="4752975"/>
            <a:ext cx="6871357" cy="138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clinic, scheduling </a:t>
            </a:r>
            <a:r>
              <a:rPr lang="en-US" sz="25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little </a:t>
            </a:r>
            <a:r>
              <a:rPr lang="en-US" sz="25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is more disruptive than scheduling a few minutes extra.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52500" y="6438900"/>
            <a:ext cx="687135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tracks </a:t>
            </a:r>
            <a:r>
              <a:rPr lang="en-US" sz="21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F1 </a:t>
            </a: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primary score and </a:t>
            </a:r>
            <a:r>
              <a:rPr lang="en-US" sz="210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Under-estimation Rate </a:t>
            </a:r>
            <a:r>
              <a:rPr lang="en-US" sz="21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direct business-risk signal.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8309521" y="2195513"/>
            <a:ext cx="929660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21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ORDINAL BUCKETS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09521" y="2624138"/>
            <a:ext cx="902583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8547646" y="2767013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9919246" y="2871788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check-up or consultation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8309521" y="3443288"/>
            <a:ext cx="902583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547646" y="3586163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9919246" y="3690937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single-surface procedure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8309521" y="4262438"/>
            <a:ext cx="902583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8547646" y="4405313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9919246" y="4510088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single-tooth treatment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8309521" y="5081588"/>
            <a:ext cx="9025830" cy="7429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547646" y="5224463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20" name="Text 18"/>
          <p:cNvSpPr/>
          <p:nvPr/>
        </p:nvSpPr>
        <p:spPr>
          <a:xfrm>
            <a:off x="9919246" y="5329238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multi-step — threshold for "long"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8309521" y="5900738"/>
            <a:ext cx="902583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8547646" y="6043613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23" name="Text 21"/>
          <p:cNvSpPr/>
          <p:nvPr/>
        </p:nvSpPr>
        <p:spPr>
          <a:xfrm>
            <a:off x="9919246" y="6148388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procedure or multiple teeth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8309521" y="6719888"/>
            <a:ext cx="902583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8547646" y="6862763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9919246" y="6967538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Complex procedure or multiple teeth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309521" y="7539037"/>
            <a:ext cx="902583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6C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8547646" y="7681912"/>
            <a:ext cx="12192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1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</a:t>
            </a:r>
            <a:r>
              <a:rPr lang="en-US" sz="16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</a:t>
            </a:r>
            <a:endParaRPr lang="en-US" sz="3150" dirty="0"/>
          </a:p>
        </p:txBody>
      </p:sp>
      <p:sp>
        <p:nvSpPr>
          <p:cNvPr id="29" name="Text 27"/>
          <p:cNvSpPr/>
          <p:nvPr/>
        </p:nvSpPr>
        <p:spPr>
          <a:xfrm>
            <a:off x="9919246" y="7786688"/>
            <a:ext cx="637300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surgical or multi-tooth restorative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952500" y="9610725"/>
            <a:ext cx="2564011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TARGET VARIABLE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209466" y="9610725"/>
            <a:ext cx="1202234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52550" y="552450"/>
            <a:ext cx="175088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 UP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2548741" y="533400"/>
            <a:ext cx="49303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132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SIX REPRODUCIBILITY GUARANTEES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52500" y="952500"/>
            <a:ext cx="168744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INTEGRITY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1485900"/>
            <a:ext cx="14716125" cy="1314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800" kern="0" spc="-72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run produces the same feature set from the same input — by construction.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52500" y="3295650"/>
            <a:ext cx="5308550" cy="9525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952500" y="3533775"/>
            <a:ext cx="54678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SPLIT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52500" y="3867150"/>
            <a:ext cx="5467807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Time-based, never random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2499" y="4648200"/>
            <a:ext cx="5467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order </a:t>
            </a:r>
            <a:r>
              <a:rPr lang="en-US" sz="1600" dirty="0">
                <a:solidFill>
                  <a:sysClr val="windowText" lastClr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preserved</a:t>
            </a:r>
            <a:r>
              <a:rPr lang="en-US" sz="160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train and test.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89650" y="3295650"/>
            <a:ext cx="5308550" cy="9525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6489650" y="3533775"/>
            <a:ext cx="54678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ALLOWLIST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89650" y="3867150"/>
            <a:ext cx="546780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Leakage columns banned centrally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489650" y="4648200"/>
            <a:ext cx="5467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Enforced at training and inference via hard ValueError.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2026801" y="3295650"/>
            <a:ext cx="5308699" cy="9525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12026801" y="3533775"/>
            <a:ext cx="54679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PROFILES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026801" y="3867150"/>
            <a:ext cx="54679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Derived from train split only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26801" y="4648200"/>
            <a:ext cx="54679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Serialised as versioned JSON artifacts; no test leak.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952500" y="5172075"/>
            <a:ext cx="5308550" cy="9525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952500" y="5410200"/>
            <a:ext cx="54678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ENCODING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52500" y="5743575"/>
            <a:ext cx="546780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Sorted, deterministic int map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952500" y="6524625"/>
            <a:ext cx="5467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across runs regardless of data ordering.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6489650" y="5172075"/>
            <a:ext cx="5308550" cy="9525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6489650" y="5410200"/>
            <a:ext cx="546780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SCHEMA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89650" y="5743575"/>
            <a:ext cx="5467807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17-column allowlist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6489650" y="6524625"/>
            <a:ext cx="5467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column → BUG-tagged error caught in dev.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2026801" y="5172075"/>
            <a:ext cx="5308699" cy="9525"/>
          </a:xfrm>
          <a:prstGeom prst="rect">
            <a:avLst/>
          </a:prstGeom>
          <a:solidFill>
            <a:srgbClr val="14181B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12026801" y="5410200"/>
            <a:ext cx="54679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16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DRIFT BASELINE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2026801" y="5743575"/>
            <a:ext cx="54679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250" dirty="0">
                <a:solidFill>
                  <a:srgbClr val="14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feature_stats.json sidecar</a:t>
            </a:r>
            <a:endParaRPr lang="en-US" sz="2250" dirty="0"/>
          </a:p>
        </p:txBody>
      </p:sp>
      <p:sp>
        <p:nvSpPr>
          <p:cNvPr id="29" name="Text 27"/>
          <p:cNvSpPr/>
          <p:nvPr/>
        </p:nvSpPr>
        <p:spPr>
          <a:xfrm>
            <a:off x="12026801" y="6524625"/>
            <a:ext cx="54679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650" dirty="0">
                <a:solidFill>
                  <a:srgbClr val="3A41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distribution for PSI drift monitoring in prod.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952500" y="9410700"/>
            <a:ext cx="16383000" cy="9525"/>
          </a:xfrm>
          <a:prstGeom prst="rect">
            <a:avLst/>
          </a:prstGeom>
          <a:solidFill>
            <a:srgbClr val="D9D6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952500" y="9610725"/>
            <a:ext cx="256386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REPRODUCIBILITY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359557" y="9610725"/>
            <a:ext cx="4095222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kern="0" spc="150" dirty="0">
                <a:solidFill>
                  <a:srgbClr val="7B85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DENTTIME · FEATURE ENGINEERING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E39841-FD2B-AD42-B2BA-1510BBB93E9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560d4c57-6dfa-45f8-8dbc-4d28210768a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1016</Words>
  <Application>Microsoft Macintosh PowerPoint</Application>
  <PresentationFormat>Custom</PresentationFormat>
  <Paragraphs>221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Chantapat Sopontanasiri</cp:lastModifiedBy>
  <cp:revision>3</cp:revision>
  <dcterms:created xsi:type="dcterms:W3CDTF">2026-04-23T11:49:53Z</dcterms:created>
  <dcterms:modified xsi:type="dcterms:W3CDTF">2026-04-23T12:31:02Z</dcterms:modified>
</cp:coreProperties>
</file>